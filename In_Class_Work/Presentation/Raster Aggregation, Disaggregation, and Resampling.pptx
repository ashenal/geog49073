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72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ccd4be31b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ccd4be31b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c472583f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c472583f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c472583ff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c472583ff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c472583ff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c472583ff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c472583f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c472583f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"Choropleth Map (Left) and Dasymetric Map (Right) Depicting Population Density for the Year [Year]." </a:t>
            </a:r>
            <a:r>
              <a:rPr lang="en" i="1">
                <a:solidFill>
                  <a:schemeClr val="dk1"/>
                </a:solidFill>
              </a:rPr>
              <a:t>ResearchGate</a:t>
            </a:r>
            <a:r>
              <a:rPr lang="en">
                <a:solidFill>
                  <a:schemeClr val="dk1"/>
                </a:solidFill>
              </a:rPr>
              <a:t>, www.researchgate.net/figure/Choroplet-map-left-and-dasymetric-map-right-depicting-population-density-for-the-year_fig3_259479214. Accessed 4 Mar. 2025.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c472583f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3c472583f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c472583f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c472583f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ccd4be31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3ccd4be31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c472583f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3c472583f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c472583ff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3c472583ff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30822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Raster Aggregation, Disaggregation, and Resampling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4447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Cadence, Andrew, Tanjina, Aciano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Objectives: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2468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will be able to: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Describe what each method does to raster data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Identify when to use each method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Implement each method using raster data in 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Aggregation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</a:rPr>
              <a:t>Combines raster cells into larger cells to produce a raster with a lower resolution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Importances: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u="sng">
                <a:solidFill>
                  <a:schemeClr val="dk1"/>
                </a:solidFill>
              </a:rPr>
              <a:t>Reducing size of data</a:t>
            </a:r>
            <a:r>
              <a:rPr lang="en" sz="1700">
                <a:solidFill>
                  <a:schemeClr val="dk1"/>
                </a:solidFill>
              </a:rPr>
              <a:t> - lower size increases computation speed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u="sng">
                <a:solidFill>
                  <a:schemeClr val="dk1"/>
                </a:solidFill>
              </a:rPr>
              <a:t>Visual interpretation</a:t>
            </a:r>
            <a:r>
              <a:rPr lang="en" sz="1700">
                <a:solidFill>
                  <a:schemeClr val="dk1"/>
                </a:solidFill>
              </a:rPr>
              <a:t> - smooths data to see larger changes</a:t>
            </a:r>
            <a:endParaRPr sz="1700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Ex: Local climate compared to regional climate</a:t>
            </a:r>
            <a:endParaRPr sz="13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u="sng">
                <a:solidFill>
                  <a:schemeClr val="dk1"/>
                </a:solidFill>
              </a:rPr>
              <a:t>Compatibility</a:t>
            </a:r>
            <a:r>
              <a:rPr lang="en" sz="1700">
                <a:solidFill>
                  <a:schemeClr val="dk1"/>
                </a:solidFill>
              </a:rPr>
              <a:t> - downscaling from a high resolution to match a lower resolution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3633"/>
          <a:stretch/>
        </p:blipFill>
        <p:spPr>
          <a:xfrm>
            <a:off x="2279200" y="3283300"/>
            <a:ext cx="4723399" cy="18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6355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Aggregation Example: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b="41870"/>
          <a:stretch/>
        </p:blipFill>
        <p:spPr>
          <a:xfrm>
            <a:off x="152400" y="725100"/>
            <a:ext cx="8839200" cy="40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 rotWithShape="1">
          <a:blip r:embed="rId4">
            <a:alphaModFix/>
          </a:blip>
          <a:srcRect r="50266"/>
          <a:stretch/>
        </p:blipFill>
        <p:spPr>
          <a:xfrm>
            <a:off x="6143525" y="1962000"/>
            <a:ext cx="2756474" cy="3422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211900" y="1962000"/>
            <a:ext cx="1059600" cy="67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20794D"/>
                </a:solidFill>
              </a:rPr>
              <a:t>Original Raster</a:t>
            </a:r>
            <a:endParaRPr sz="1800" b="1">
              <a:solidFill>
                <a:srgbClr val="20794D"/>
              </a:solidFill>
            </a:endParaRPr>
          </a:p>
        </p:txBody>
      </p:sp>
      <p:cxnSp>
        <p:nvCxnSpPr>
          <p:cNvPr id="77" name="Google Shape;77;p16"/>
          <p:cNvCxnSpPr>
            <a:stCxn id="76" idx="0"/>
          </p:cNvCxnSpPr>
          <p:nvPr/>
        </p:nvCxnSpPr>
        <p:spPr>
          <a:xfrm rot="10800000">
            <a:off x="452800" y="1194300"/>
            <a:ext cx="288900" cy="767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" name="Google Shape;78;p16"/>
          <p:cNvCxnSpPr/>
          <p:nvPr/>
        </p:nvCxnSpPr>
        <p:spPr>
          <a:xfrm>
            <a:off x="895775" y="1531500"/>
            <a:ext cx="6597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Google Shape;79;p16"/>
          <p:cNvCxnSpPr/>
          <p:nvPr/>
        </p:nvCxnSpPr>
        <p:spPr>
          <a:xfrm rot="10800000" flipH="1">
            <a:off x="7503350" y="1194300"/>
            <a:ext cx="9600" cy="337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" name="Google Shape;80;p16"/>
          <p:cNvCxnSpPr/>
          <p:nvPr/>
        </p:nvCxnSpPr>
        <p:spPr>
          <a:xfrm rot="10800000" flipH="1">
            <a:off x="916950" y="1187200"/>
            <a:ext cx="14100" cy="362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" name="Google Shape;81;p16"/>
          <p:cNvCxnSpPr/>
          <p:nvPr/>
        </p:nvCxnSpPr>
        <p:spPr>
          <a:xfrm>
            <a:off x="3787675" y="1518050"/>
            <a:ext cx="0" cy="297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" name="Google Shape;82;p16"/>
          <p:cNvSpPr txBox="1"/>
          <p:nvPr/>
        </p:nvSpPr>
        <p:spPr>
          <a:xfrm>
            <a:off x="2492875" y="1897350"/>
            <a:ext cx="3170100" cy="50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20794D"/>
                </a:solidFill>
              </a:rPr>
              <a:t>Loading in a raster (tif) file</a:t>
            </a:r>
            <a:endParaRPr sz="1800" b="1">
              <a:solidFill>
                <a:srgbClr val="20794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26355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Aggregation Example: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3">
            <a:alphaModFix/>
          </a:blip>
          <a:srcRect t="55037"/>
          <a:stretch/>
        </p:blipFill>
        <p:spPr>
          <a:xfrm>
            <a:off x="217700" y="633237"/>
            <a:ext cx="9733575" cy="3422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918400" y="1700900"/>
            <a:ext cx="1131300" cy="784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20794D"/>
                </a:solidFill>
              </a:rPr>
              <a:t>Function in terra package</a:t>
            </a:r>
            <a:endParaRPr sz="1300" b="1">
              <a:solidFill>
                <a:srgbClr val="20794D"/>
              </a:solidFill>
            </a:endParaRPr>
          </a:p>
        </p:txBody>
      </p:sp>
      <p:cxnSp>
        <p:nvCxnSpPr>
          <p:cNvPr id="90" name="Google Shape;90;p17"/>
          <p:cNvCxnSpPr>
            <a:stCxn id="89" idx="0"/>
          </p:cNvCxnSpPr>
          <p:nvPr/>
        </p:nvCxnSpPr>
        <p:spPr>
          <a:xfrm rot="10800000" flipH="1">
            <a:off x="1484050" y="1035800"/>
            <a:ext cx="262200" cy="665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17"/>
          <p:cNvSpPr txBox="1"/>
          <p:nvPr/>
        </p:nvSpPr>
        <p:spPr>
          <a:xfrm>
            <a:off x="2430450" y="1640600"/>
            <a:ext cx="808800" cy="470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0794D"/>
                </a:solidFill>
              </a:rPr>
              <a:t>Original Raster</a:t>
            </a:r>
            <a:endParaRPr sz="1200" b="1">
              <a:solidFill>
                <a:srgbClr val="20794D"/>
              </a:solidFill>
            </a:endParaRPr>
          </a:p>
        </p:txBody>
      </p:sp>
      <p:cxnSp>
        <p:nvCxnSpPr>
          <p:cNvPr id="92" name="Google Shape;92;p17"/>
          <p:cNvCxnSpPr/>
          <p:nvPr/>
        </p:nvCxnSpPr>
        <p:spPr>
          <a:xfrm rot="10800000">
            <a:off x="2823450" y="975500"/>
            <a:ext cx="22800" cy="665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" name="Google Shape;93;p17"/>
          <p:cNvSpPr txBox="1"/>
          <p:nvPr/>
        </p:nvSpPr>
        <p:spPr>
          <a:xfrm>
            <a:off x="3530450" y="2235800"/>
            <a:ext cx="1240500" cy="665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0794D"/>
                </a:solidFill>
              </a:rPr>
              <a:t># of columns + rows in each direction</a:t>
            </a:r>
            <a:endParaRPr sz="1200" b="1">
              <a:solidFill>
                <a:srgbClr val="20794D"/>
              </a:solidFill>
            </a:endParaRPr>
          </a:p>
        </p:txBody>
      </p:sp>
      <p:cxnSp>
        <p:nvCxnSpPr>
          <p:cNvPr id="94" name="Google Shape;94;p17"/>
          <p:cNvCxnSpPr>
            <a:stCxn id="93" idx="0"/>
          </p:cNvCxnSpPr>
          <p:nvPr/>
        </p:nvCxnSpPr>
        <p:spPr>
          <a:xfrm rot="10800000">
            <a:off x="4139300" y="975500"/>
            <a:ext cx="11400" cy="1260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" name="Google Shape;95;p17"/>
          <p:cNvSpPr txBox="1"/>
          <p:nvPr/>
        </p:nvSpPr>
        <p:spPr>
          <a:xfrm>
            <a:off x="5050750" y="1640600"/>
            <a:ext cx="1200000" cy="470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0794D"/>
                </a:solidFill>
              </a:rPr>
              <a:t>Method of aggregation</a:t>
            </a:r>
            <a:endParaRPr sz="1200" b="1">
              <a:solidFill>
                <a:srgbClr val="20794D"/>
              </a:solidFill>
            </a:endParaRPr>
          </a:p>
        </p:txBody>
      </p:sp>
      <p:cxnSp>
        <p:nvCxnSpPr>
          <p:cNvPr id="96" name="Google Shape;96;p17"/>
          <p:cNvCxnSpPr/>
          <p:nvPr/>
        </p:nvCxnSpPr>
        <p:spPr>
          <a:xfrm rot="10800000">
            <a:off x="5443750" y="975500"/>
            <a:ext cx="22800" cy="665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97" name="Google Shape;97;p17"/>
          <p:cNvPicPr preferRelativeResize="0"/>
          <p:nvPr/>
        </p:nvPicPr>
        <p:blipFill rotWithShape="1">
          <a:blip r:embed="rId4">
            <a:alphaModFix/>
          </a:blip>
          <a:srcRect l="49979"/>
          <a:stretch/>
        </p:blipFill>
        <p:spPr>
          <a:xfrm>
            <a:off x="6418925" y="1597700"/>
            <a:ext cx="2573301" cy="31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>
            <a:spLocks noGrp="1"/>
          </p:cNvSpPr>
          <p:nvPr>
            <p:ph type="title"/>
          </p:nvPr>
        </p:nvSpPr>
        <p:spPr>
          <a:xfrm>
            <a:off x="311700" y="104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Disaggregation </a:t>
            </a:r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311700" y="677150"/>
            <a:ext cx="8520600" cy="2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Disagg() -&gt; increases the resolution of raster objects</a:t>
            </a:r>
            <a:endParaRPr i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Why Disaggregation?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191919"/>
                </a:solidFill>
                <a:highlight>
                  <a:srgbClr val="FEFEFE"/>
                </a:highlight>
              </a:rPr>
              <a:t>“The corresponding values, however, are only as accurate as their lower resolution source.” (Lovelace) </a:t>
            </a:r>
            <a:endParaRPr sz="1650">
              <a:solidFill>
                <a:srgbClr val="191919"/>
              </a:solidFill>
              <a:highlight>
                <a:srgbClr val="FEFEFE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50">
              <a:solidFill>
                <a:srgbClr val="191919"/>
              </a:solidFill>
              <a:highlight>
                <a:srgbClr val="FEFEFE"/>
              </a:highlight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 rotWithShape="1">
          <a:blip r:embed="rId3">
            <a:alphaModFix/>
          </a:blip>
          <a:srcRect r="47693"/>
          <a:stretch/>
        </p:blipFill>
        <p:spPr>
          <a:xfrm>
            <a:off x="426400" y="2367875"/>
            <a:ext cx="2770075" cy="25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 l="52141"/>
          <a:stretch/>
        </p:blipFill>
        <p:spPr>
          <a:xfrm>
            <a:off x="5956150" y="2367875"/>
            <a:ext cx="2534499" cy="25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7224375" y="4016900"/>
            <a:ext cx="2770200" cy="8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>
              <a:solidFill>
                <a:srgbClr val="191919"/>
              </a:solidFill>
              <a:highlight>
                <a:srgbClr val="FEFEFE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50" b="1">
                <a:solidFill>
                  <a:srgbClr val="191919"/>
                </a:solidFill>
                <a:highlight>
                  <a:srgbClr val="FEFEFE"/>
                </a:highlight>
              </a:rPr>
              <a:t>Dasymetric Map</a:t>
            </a:r>
            <a:endParaRPr sz="1650" b="1">
              <a:solidFill>
                <a:srgbClr val="191919"/>
              </a:solidFill>
              <a:highlight>
                <a:srgbClr val="FEFEFE"/>
              </a:highlight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311438" y="4704900"/>
            <a:ext cx="30000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50" b="1">
                <a:solidFill>
                  <a:srgbClr val="191919"/>
                </a:solidFill>
                <a:highlight>
                  <a:srgbClr val="FEFEFE"/>
                </a:highlight>
              </a:rPr>
              <a:t>Choropleth Map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Example of Disaggregated R Code</a:t>
            </a:r>
            <a:endParaRPr/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400" y="2236988"/>
            <a:ext cx="83439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2280525" y="583500"/>
            <a:ext cx="660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758AB"/>
                </a:solidFill>
                <a:highlight>
                  <a:srgbClr val="F1F3F5"/>
                </a:highlight>
              </a:rPr>
              <a:t>disagg</a:t>
            </a:r>
            <a:r>
              <a:rPr lang="en" sz="1600">
                <a:solidFill>
                  <a:srgbClr val="5E5E5E"/>
                </a:solidFill>
                <a:highlight>
                  <a:srgbClr val="F1F3F5"/>
                </a:highlight>
              </a:rPr>
              <a:t>(</a:t>
            </a:r>
            <a:r>
              <a:rPr lang="en" sz="1600">
                <a:solidFill>
                  <a:srgbClr val="111111"/>
                </a:solidFill>
                <a:highlight>
                  <a:srgbClr val="F1F3F5"/>
                </a:highlight>
              </a:rPr>
              <a:t>x</a:t>
            </a:r>
            <a:r>
              <a:rPr lang="en" sz="1600">
                <a:solidFill>
                  <a:srgbClr val="003B4F"/>
                </a:solidFill>
                <a:highlight>
                  <a:srgbClr val="F1F3F5"/>
                </a:highlight>
              </a:rPr>
              <a:t>, </a:t>
            </a:r>
            <a:r>
              <a:rPr lang="en" sz="1600">
                <a:solidFill>
                  <a:srgbClr val="111111"/>
                </a:solidFill>
                <a:highlight>
                  <a:srgbClr val="F1F3F5"/>
                </a:highlight>
              </a:rPr>
              <a:t>fact</a:t>
            </a:r>
            <a:r>
              <a:rPr lang="en" sz="1600">
                <a:solidFill>
                  <a:srgbClr val="003B4F"/>
                </a:solidFill>
                <a:highlight>
                  <a:srgbClr val="F1F3F5"/>
                </a:highlight>
              </a:rPr>
              <a:t>, method</a:t>
            </a:r>
            <a:r>
              <a:rPr lang="en" sz="1600">
                <a:solidFill>
                  <a:srgbClr val="5E5E5E"/>
                </a:solidFill>
                <a:highlight>
                  <a:srgbClr val="F1F3F5"/>
                </a:highlight>
              </a:rPr>
              <a:t>=</a:t>
            </a:r>
            <a:r>
              <a:rPr lang="en" sz="1600">
                <a:solidFill>
                  <a:srgbClr val="20794D"/>
                </a:solidFill>
                <a:highlight>
                  <a:srgbClr val="F1F3F5"/>
                </a:highlight>
              </a:rPr>
              <a:t>"near"</a:t>
            </a:r>
            <a:r>
              <a:rPr lang="en" sz="1600">
                <a:solidFill>
                  <a:srgbClr val="003B4F"/>
                </a:solidFill>
                <a:highlight>
                  <a:srgbClr val="F1F3F5"/>
                </a:highlight>
              </a:rPr>
              <a:t>, filename</a:t>
            </a:r>
            <a:r>
              <a:rPr lang="en" sz="1600">
                <a:solidFill>
                  <a:srgbClr val="5E5E5E"/>
                </a:solidFill>
                <a:highlight>
                  <a:srgbClr val="F1F3F5"/>
                </a:highlight>
              </a:rPr>
              <a:t>=</a:t>
            </a:r>
            <a:r>
              <a:rPr lang="en" sz="1600">
                <a:solidFill>
                  <a:srgbClr val="20794D"/>
                </a:solidFill>
                <a:highlight>
                  <a:srgbClr val="F1F3F5"/>
                </a:highlight>
              </a:rPr>
              <a:t>""</a:t>
            </a:r>
            <a:r>
              <a:rPr lang="en" sz="1600">
                <a:solidFill>
                  <a:srgbClr val="003B4F"/>
                </a:solidFill>
                <a:highlight>
                  <a:srgbClr val="F1F3F5"/>
                </a:highlight>
              </a:rPr>
              <a:t>, </a:t>
            </a:r>
            <a:r>
              <a:rPr lang="en" sz="1600">
                <a:solidFill>
                  <a:srgbClr val="111111"/>
                </a:solidFill>
                <a:highlight>
                  <a:srgbClr val="F1F3F5"/>
                </a:highlight>
              </a:rPr>
              <a:t>...</a:t>
            </a:r>
            <a:r>
              <a:rPr lang="en" sz="1600">
                <a:solidFill>
                  <a:srgbClr val="5E5E5E"/>
                </a:solidFill>
                <a:highlight>
                  <a:srgbClr val="F1F3F5"/>
                </a:highlight>
              </a:rPr>
              <a:t>)</a:t>
            </a:r>
            <a:endParaRPr sz="1600">
              <a:solidFill>
                <a:srgbClr val="5E5E5E"/>
              </a:solidFill>
              <a:highlight>
                <a:srgbClr val="F1F3F5"/>
              </a:highlight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2440350" y="1488250"/>
            <a:ext cx="1843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Raster </a:t>
            </a:r>
            <a:endParaRPr sz="135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152400" y="1524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5E5E5E"/>
              </a:solidFill>
              <a:highlight>
                <a:srgbClr val="F1F3F5"/>
              </a:highlight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3152400" y="3248850"/>
            <a:ext cx="21489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Fact = # of columns and rows (MUST BE POSITIVE)</a:t>
            </a:r>
            <a:endParaRPr sz="1350">
              <a:solidFill>
                <a:srgbClr val="2125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5072800" y="1190650"/>
            <a:ext cx="3000000" cy="8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METHOD = Optional argument,</a:t>
            </a:r>
            <a:endParaRPr sz="1350" b="1">
              <a:solidFill>
                <a:srgbClr val="2125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Interpolation method to define new cells</a:t>
            </a:r>
            <a:endParaRPr sz="1350" b="1">
              <a:solidFill>
                <a:srgbClr val="2125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" name="Google Shape;119;p19"/>
          <p:cNvCxnSpPr/>
          <p:nvPr/>
        </p:nvCxnSpPr>
        <p:spPr>
          <a:xfrm rot="10800000" flipH="1">
            <a:off x="2726750" y="1945375"/>
            <a:ext cx="11700" cy="25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" name="Google Shape;120;p19"/>
          <p:cNvCxnSpPr/>
          <p:nvPr/>
        </p:nvCxnSpPr>
        <p:spPr>
          <a:xfrm rot="10800000">
            <a:off x="5862100" y="1891075"/>
            <a:ext cx="211200" cy="36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" name="Google Shape;121;p19"/>
          <p:cNvCxnSpPr/>
          <p:nvPr/>
        </p:nvCxnSpPr>
        <p:spPr>
          <a:xfrm rot="10800000">
            <a:off x="4169550" y="2752600"/>
            <a:ext cx="114600" cy="56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Resampling </a:t>
            </a: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>
                <a:solidFill>
                  <a:schemeClr val="dk1"/>
                </a:solidFill>
              </a:rPr>
              <a:t>Aggregating &amp; Disaggregating are only suitable for changing the </a:t>
            </a:r>
            <a:r>
              <a:rPr lang="en" sz="1600" b="1" i="1">
                <a:solidFill>
                  <a:schemeClr val="dk1"/>
                </a:solidFill>
              </a:rPr>
              <a:t>resolution</a:t>
            </a:r>
            <a:r>
              <a:rPr lang="en" sz="1600" i="1">
                <a:solidFill>
                  <a:schemeClr val="dk1"/>
                </a:solidFill>
              </a:rPr>
              <a:t> of the raster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Resampling </a:t>
            </a:r>
            <a:r>
              <a:rPr lang="en" sz="1600">
                <a:solidFill>
                  <a:schemeClr val="dk1"/>
                </a:solidFill>
              </a:rPr>
              <a:t>is: </a:t>
            </a:r>
            <a:r>
              <a:rPr lang="en" sz="1600">
                <a:solidFill>
                  <a:schemeClr val="dk1"/>
                </a:solidFill>
                <a:highlight>
                  <a:srgbClr val="FEFEFE"/>
                </a:highlight>
              </a:rPr>
              <a:t> </a:t>
            </a:r>
            <a:endParaRPr sz="1600">
              <a:solidFill>
                <a:schemeClr val="dk1"/>
              </a:solidFill>
              <a:highlight>
                <a:srgbClr val="FEFEFE"/>
              </a:highlight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  <a:highlight>
                  <a:srgbClr val="FEFEFE"/>
                </a:highlight>
              </a:rPr>
              <a:t>a process of computing values for new pixel locations.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good for when we have multiple data sets with different resolutions /origins 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Uses: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Aligning multiple rasters with different resolutions or coordinate systems.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Standardizing raster datasets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Resampling</a:t>
            </a:r>
            <a:endParaRPr/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075" y="1085625"/>
            <a:ext cx="475297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300" y="3027400"/>
            <a:ext cx="55340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/>
        </p:nvSpPr>
        <p:spPr>
          <a:xfrm>
            <a:off x="5859425" y="1132650"/>
            <a:ext cx="1843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Start with a target raster: What we want to resample to</a:t>
            </a:r>
            <a:endParaRPr sz="135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" name="Google Shape;136;p21"/>
          <p:cNvCxnSpPr/>
          <p:nvPr/>
        </p:nvCxnSpPr>
        <p:spPr>
          <a:xfrm rot="10800000" flipH="1">
            <a:off x="5157050" y="1447200"/>
            <a:ext cx="607800" cy="11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7" name="Google Shape;137;p21"/>
          <p:cNvSpPr txBox="1"/>
          <p:nvPr/>
        </p:nvSpPr>
        <p:spPr>
          <a:xfrm>
            <a:off x="1960888" y="3517350"/>
            <a:ext cx="1843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Raster you’re changing</a:t>
            </a:r>
            <a:endParaRPr sz="135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" name="Google Shape;138;p21"/>
          <p:cNvCxnSpPr/>
          <p:nvPr/>
        </p:nvCxnSpPr>
        <p:spPr>
          <a:xfrm rot="10800000" flipH="1">
            <a:off x="2435750" y="3361000"/>
            <a:ext cx="11700" cy="25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9" name="Google Shape;139;p21"/>
          <p:cNvSpPr txBox="1"/>
          <p:nvPr/>
        </p:nvSpPr>
        <p:spPr>
          <a:xfrm>
            <a:off x="2728188" y="2285400"/>
            <a:ext cx="1843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Target raster</a:t>
            </a:r>
            <a:endParaRPr sz="135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" name="Google Shape;140;p21"/>
          <p:cNvCxnSpPr>
            <a:endCxn id="134" idx="0"/>
          </p:cNvCxnSpPr>
          <p:nvPr/>
        </p:nvCxnSpPr>
        <p:spPr>
          <a:xfrm>
            <a:off x="3271813" y="2634700"/>
            <a:ext cx="1500" cy="39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1" name="Google Shape;141;p21"/>
          <p:cNvSpPr txBox="1"/>
          <p:nvPr/>
        </p:nvSpPr>
        <p:spPr>
          <a:xfrm>
            <a:off x="4118788" y="3459975"/>
            <a:ext cx="1843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Method to estimate the new values</a:t>
            </a:r>
            <a:endParaRPr sz="135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" name="Google Shape;142;p21"/>
          <p:cNvCxnSpPr/>
          <p:nvPr/>
        </p:nvCxnSpPr>
        <p:spPr>
          <a:xfrm rot="10800000" flipH="1">
            <a:off x="4593650" y="3303625"/>
            <a:ext cx="11700" cy="25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311700" y="92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</a:t>
            </a:r>
            <a:r>
              <a:rPr lang="en" b="1"/>
              <a:t>            </a:t>
            </a:r>
            <a:r>
              <a:rPr lang="en"/>
              <a:t>Types of Resampling </a:t>
            </a:r>
            <a:endParaRPr/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2400" y="665450"/>
            <a:ext cx="6278550" cy="415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 txBox="1"/>
          <p:nvPr/>
        </p:nvSpPr>
        <p:spPr>
          <a:xfrm>
            <a:off x="5956000" y="861950"/>
            <a:ext cx="3229800" cy="3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Optimal Scenarios 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</a:rPr>
              <a:t>Near - </a:t>
            </a:r>
            <a:r>
              <a:rPr lang="en" sz="1800">
                <a:solidFill>
                  <a:schemeClr val="dk2"/>
                </a:solidFill>
              </a:rPr>
              <a:t>Categorical Raster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</a:rPr>
              <a:t>Bilinear- </a:t>
            </a:r>
            <a:r>
              <a:rPr lang="en" sz="1800">
                <a:solidFill>
                  <a:schemeClr val="dk2"/>
                </a:solidFill>
              </a:rPr>
              <a:t>Fastest for continuous rasters 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</a:rPr>
              <a:t>Cubic- </a:t>
            </a:r>
            <a:r>
              <a:rPr lang="en" sz="1800">
                <a:solidFill>
                  <a:schemeClr val="dk2"/>
                </a:solidFill>
              </a:rPr>
              <a:t>Used for continuous rasters, uses values from 16 nearest cells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</a:rPr>
              <a:t>Cubic Spline- </a:t>
            </a:r>
            <a:r>
              <a:rPr lang="en" sz="1800">
                <a:solidFill>
                  <a:schemeClr val="dk2"/>
                </a:solidFill>
              </a:rPr>
              <a:t>same as cubic applies splines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</a:rPr>
              <a:t>Lanczos- </a:t>
            </a:r>
            <a:r>
              <a:rPr lang="en" sz="1800">
                <a:solidFill>
                  <a:schemeClr val="dk2"/>
                </a:solidFill>
              </a:rPr>
              <a:t>Used for continuous rasters, uses values from 36 nearest cells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Quiz Time !!!! </a:t>
            </a:r>
            <a:r>
              <a:rPr lang="en" sz="18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𓆝</a:t>
            </a:r>
            <a:endParaRPr/>
          </a:p>
        </p:txBody>
      </p:sp>
      <p:pic>
        <p:nvPicPr>
          <p:cNvPr id="155" name="Google Shape;15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1513" y="1069125"/>
            <a:ext cx="38209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</Words>
  <Application>Microsoft Office PowerPoint</Application>
  <PresentationFormat>On-screen Show (16:9)</PresentationFormat>
  <Paragraphs>57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Roboto</vt:lpstr>
      <vt:lpstr>Simple Light</vt:lpstr>
      <vt:lpstr>Raster Aggregation, Disaggregation, and Resampling</vt:lpstr>
      <vt:lpstr>Learning Objectives:</vt:lpstr>
      <vt:lpstr>Aggregation</vt:lpstr>
      <vt:lpstr>Aggregation Example:</vt:lpstr>
      <vt:lpstr>Aggregation Example:</vt:lpstr>
      <vt:lpstr>                                    Disaggregation </vt:lpstr>
      <vt:lpstr>                   Example of Disaggregated R Code</vt:lpstr>
      <vt:lpstr>                                     Resampling </vt:lpstr>
      <vt:lpstr>Resampling</vt:lpstr>
      <vt:lpstr>                               Types of Resampling </vt:lpstr>
      <vt:lpstr>                                    Quiz Time !!!! 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Shenal, Andrew</cp:lastModifiedBy>
  <cp:revision>1</cp:revision>
  <dcterms:modified xsi:type="dcterms:W3CDTF">2025-03-06T14:21:25Z</dcterms:modified>
</cp:coreProperties>
</file>